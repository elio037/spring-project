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 i="0">
                <a:solidFill>
                  <a:srgbClr val="161B2E"/>
                </a:solidFill>
                <a:latin typeface="맑은 고딕"/>
                <a:ea typeface="맑은 고딕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841248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BookReview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맑은 고딕"/>
                <a:ea typeface="맑은 고딕"/>
              </a:rPr>
              <a:t>스프링 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B6BED0"/>
                </a:solidFill>
                <a:latin typeface="맑은 고딕"/>
                <a:ea typeface="맑은 고딕"/>
              </a:rPr>
              <a:t>독자 리뷰 기반 도서 탐색 플랫폼 — Spring MVC 발표자료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1206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B6BED0"/>
                </a:solidFill>
                <a:latin typeface="맑은 고딕"/>
                <a:ea typeface="맑은 고딕"/>
              </a:rPr>
              <a:t>Spring MVC · MyBatis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51206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B6BED0"/>
                </a:solidFill>
                <a:latin typeface="맑은 고딕"/>
                <a:ea typeface="맑은 고딕"/>
              </a:rPr>
              <a:t>Oracle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512064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F5A623"/>
                </a:solidFill>
                <a:latin typeface="맑은 고딕"/>
                <a:ea typeface="맑은 고딕"/>
              </a:rPr>
              <a:t>face-api.js 얼굴 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kr.ac.kopo  ·  2026  ·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01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D1D1F"/>
                </a:solidFill>
                <a:latin typeface="맑은 고딕"/>
                <a:ea typeface="맑은 고딕"/>
              </a:rPr>
              <a:t>프로젝트 개요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868680"/>
          </a:xfrm>
          <a:prstGeom prst="roundRect">
            <a:avLst>
              <a:gd name="adj" fmla="val 14000"/>
            </a:avLst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241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“독자가 남긴 실제 리뷰”로 책을 고르는  </a:t>
            </a:r>
            <a:r>
              <a:rPr sz="1900" b="1" i="0">
                <a:solidFill>
                  <a:srgbClr val="FFE6B0"/>
                </a:solidFill>
                <a:latin typeface="맑은 고딕"/>
                <a:ea typeface="맑은 고딕"/>
              </a:rPr>
              <a:t>도서 리뷰 · 탐색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CE6"/>
                </a:solidFill>
                <a:latin typeface="맑은 고딕"/>
                <a:ea typeface="맑은 고딕"/>
              </a:rPr>
              <a:t>알라딘 도서 리뷰 크롤링 데이터</a:t>
            </a:r>
            <a:r>
              <a:rPr sz="1500" b="0" i="0">
                <a:solidFill>
                  <a:srgbClr val="1D1D1F"/>
                </a:solidFill>
                <a:latin typeface="맑은 고딕"/>
                <a:ea typeface="맑은 고딕"/>
              </a:rPr>
              <a:t>를 정제해 Oracle에 적재하고, </a:t>
            </a:r>
            <a:r>
              <a:rPr sz="1500" b="0" i="0">
                <a:solidFill>
                  <a:srgbClr val="1D1D1F"/>
                </a:solidFill>
                <a:latin typeface="맑은 고딕"/>
                <a:ea typeface="맑은 고딕"/>
              </a:rPr>
              <a:t>도서 검색 · 평점/리뷰 순위 · 상세 통계(평점 분포·감성 분석)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D1D1F"/>
                </a:solidFill>
                <a:latin typeface="맑은 고딕"/>
                <a:ea typeface="맑은 고딕"/>
              </a:rPr>
              <a:t>를 제공하는 Spring MVC 웹 애플리케이션. </a:t>
            </a:r>
            <a:r>
              <a:rPr sz="1500" b="1" i="0">
                <a:solidFill>
                  <a:srgbClr val="1D1D1F"/>
                </a:solidFill>
                <a:latin typeface="맑은 고딕"/>
                <a:ea typeface="맑은 고딕"/>
              </a:rPr>
              <a:t>얼굴 인식 로그인</a:t>
            </a:r>
            <a:r>
              <a:rPr sz="1500" b="0" i="0">
                <a:solidFill>
                  <a:srgbClr val="1D1D1F"/>
                </a:solidFill>
                <a:latin typeface="맑은 고딕"/>
                <a:ea typeface="맑은 고딕"/>
              </a:rPr>
              <a:t>과 카카오 로그인까지 지원한다.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260604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2E7CE6"/>
                </a:solidFill>
                <a:latin typeface="맑은 고딕"/>
                <a:ea typeface="맑은 고딕"/>
              </a:rP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A7080"/>
                </a:solidFill>
                <a:latin typeface="맑은 고딕"/>
                <a:ea typeface="맑은 고딕"/>
              </a:rPr>
              <a:t>도서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703320"/>
            <a:ext cx="260604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406908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5A623"/>
                </a:solidFill>
                <a:latin typeface="맑은 고딕"/>
                <a:ea typeface="맑은 고딕"/>
              </a:rPr>
              <a:t>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507492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A7080"/>
                </a:solidFill>
                <a:latin typeface="맑은 고딕"/>
                <a:ea typeface="맑은 고딕"/>
              </a:rPr>
              <a:t>샘플 리뷰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03320"/>
            <a:ext cx="260604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06908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2EA06A"/>
                </a:solidFill>
                <a:latin typeface="맑은 고딕"/>
                <a:ea typeface="맑은 고딕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07492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A7080"/>
                </a:solidFill>
                <a:latin typeface="맑은 고딕"/>
                <a:ea typeface="맑은 고딕"/>
              </a:rPr>
              <a:t>MVC 엔드포인트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3703320"/>
            <a:ext cx="260604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406908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E04A4A"/>
                </a:solidFill>
                <a:latin typeface="맑은 고딕"/>
                <a:ea typeface="맑은 고딕"/>
              </a:rPr>
              <a:t>128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507492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A7080"/>
                </a:solidFill>
                <a:latin typeface="맑은 고딕"/>
                <a:ea typeface="맑은 고딕"/>
              </a:rPr>
              <a:t>얼굴 특징 차원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02 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D1D1F"/>
                </a:solidFill>
                <a:latin typeface="맑은 고딕"/>
                <a:ea typeface="맑은 고딕"/>
              </a:rPr>
              <a:t>기술 스택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166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029967"/>
            <a:ext cx="411480" cy="411480"/>
          </a:xfrm>
          <a:prstGeom prst="ellipse">
            <a:avLst/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011679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1D1F"/>
                </a:solidFill>
                <a:latin typeface="맑은 고딕"/>
                <a:ea typeface="맑은 고딕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651760"/>
            <a:ext cx="4114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•  Java 17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•  Spring Web MVC 6.2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•  MyBatis 3.5 + mybatis-spring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37360"/>
            <a:ext cx="5166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2029967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11679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1D1F"/>
                </a:solidFill>
                <a:latin typeface="맑은 고딕"/>
                <a:ea typeface="맑은 고딕"/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651760"/>
            <a:ext cx="4114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•  Oracle XE 21c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•  ojdbc11 / commons-dbcp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•  BR_BOOK·REVIEW·MEMBER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•  + COMMENT·LIKE·WISHLIST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39"/>
            <a:ext cx="5166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270248"/>
            <a:ext cx="411480" cy="411480"/>
          </a:xfrm>
          <a:prstGeom prst="ellipse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4251959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1D1F"/>
                </a:solidFill>
                <a:latin typeface="맑은 고딕"/>
                <a:ea typeface="맑은 고딕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892040"/>
            <a:ext cx="4114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•  JSP / JSTL (Jakarta)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•  자체 CSS 디자인 시스템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•  반응형 카드 레이아웃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977639"/>
            <a:ext cx="5166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4270248"/>
            <a:ext cx="411480" cy="411480"/>
          </a:xfrm>
          <a:prstGeom prst="ellipse">
            <a:avLst/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4251959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1D1F"/>
                </a:solidFill>
                <a:latin typeface="맑은 고딕"/>
                <a:ea typeface="맑은 고딕"/>
              </a:rPr>
              <a:t>AI / 인증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892040"/>
            <a:ext cx="4114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•  딥러닝 얼굴 인식 (face-api.js)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•  모델 3종 — 검출·특징 추출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•  유클리드 거리로 얼굴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03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맑은 고딕"/>
                <a:ea typeface="맑은 고딕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B6BED0"/>
                </a:solidFill>
                <a:latin typeface="맑은 고딕"/>
                <a:ea typeface="맑은 고딕"/>
              </a:rPr>
              <a:t>표준 레이어드 아키텍처 — 요청은 DispatcherServlet을 통해 계층을 따라 흐른다.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1691640" cy="1737360"/>
          </a:xfrm>
          <a:prstGeom prst="roundRect">
            <a:avLst>
              <a:gd name="adj" fmla="val 12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98448" y="2697480"/>
            <a:ext cx="365760" cy="365760"/>
          </a:xfrm>
          <a:prstGeom prst="ellipse">
            <a:avLst/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99816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브라우저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3864"/>
            <a:ext cx="1691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6EAF5"/>
                </a:solidFill>
                <a:latin typeface="맑은 고딕"/>
                <a:ea typeface="맑은 고딕"/>
              </a:rPr>
              <a:t>화면 표시 ·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962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B6BED0"/>
                </a:solidFill>
                <a:latin typeface="맑은 고딕"/>
                <a:ea typeface="맑은 고딕"/>
              </a:rPr>
              <a:t>JSP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32004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5A623"/>
                </a:solidFill>
                <a:latin typeface="맑은 고딕"/>
                <a:ea typeface="맑은 고딕"/>
              </a:rPr>
              <a:t>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78024" y="2514600"/>
            <a:ext cx="1691640" cy="1737360"/>
          </a:xfrm>
          <a:prstGeom prst="roundRect">
            <a:avLst>
              <a:gd name="adj" fmla="val 12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36392" y="2697480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78024" y="3099816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Dispatcher Servlet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8024" y="3483864"/>
            <a:ext cx="1691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6EAF5"/>
                </a:solidFill>
                <a:latin typeface="맑은 고딕"/>
                <a:ea typeface="맑은 고딕"/>
              </a:rPr>
              <a:t>요청 배분(관문)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8024" y="384962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B6BED0"/>
                </a:solidFill>
                <a:latin typeface="맑은 고딕"/>
                <a:ea typeface="맑은 고딕"/>
              </a:rPr>
              <a:t>spring-mvc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32004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5A623"/>
                </a:solidFill>
                <a:latin typeface="맑은 고딕"/>
                <a:ea typeface="맑은 고딕"/>
              </a:rPr>
              <a:t>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514600"/>
            <a:ext cx="1691640" cy="1737360"/>
          </a:xfrm>
          <a:prstGeom prst="roundRect">
            <a:avLst>
              <a:gd name="adj" fmla="val 12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74336" y="2697480"/>
            <a:ext cx="365760" cy="365760"/>
          </a:xfrm>
          <a:prstGeom prst="ellipse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3099816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483864"/>
            <a:ext cx="1691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6EAF5"/>
                </a:solidFill>
                <a:latin typeface="맑은 고딕"/>
                <a:ea typeface="맑은 고딕"/>
              </a:rPr>
              <a:t>요청 받고 응답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384962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B6BED0"/>
                </a:solidFill>
                <a:latin typeface="맑은 고딕"/>
                <a:ea typeface="맑은 고딕"/>
              </a:rPr>
              <a:t>@Controller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2004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5A623"/>
                </a:solidFill>
                <a:latin typeface="맑은 고딕"/>
                <a:ea typeface="맑은 고딕"/>
              </a:rPr>
              <a:t>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2514600"/>
            <a:ext cx="1691640" cy="1737360"/>
          </a:xfrm>
          <a:prstGeom prst="roundRect">
            <a:avLst>
              <a:gd name="adj" fmla="val 12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12280" y="2697480"/>
            <a:ext cx="365760" cy="365760"/>
          </a:xfrm>
          <a:prstGeom prst="ellipse">
            <a:avLst/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3912" y="3099816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3483864"/>
            <a:ext cx="1691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6EAF5"/>
                </a:solidFill>
                <a:latin typeface="맑은 고딕"/>
                <a:ea typeface="맑은 고딕"/>
              </a:rPr>
              <a:t>핵심 로직 처리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384962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B6BED0"/>
                </a:solidFill>
                <a:latin typeface="맑은 고딕"/>
                <a:ea typeface="맑은 고딕"/>
              </a:rPr>
              <a:t>@Service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27264" y="32004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5A623"/>
                </a:solidFill>
                <a:latin typeface="맑은 고딕"/>
                <a:ea typeface="맑은 고딕"/>
              </a:rPr>
              <a:t>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6" y="2514600"/>
            <a:ext cx="1691640" cy="1737360"/>
          </a:xfrm>
          <a:prstGeom prst="roundRect">
            <a:avLst>
              <a:gd name="adj" fmla="val 12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50224" y="2697480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91856" y="3099816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DAO + Mapper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1856" y="3483864"/>
            <a:ext cx="1691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6EAF5"/>
                </a:solidFill>
                <a:latin typeface="맑은 고딕"/>
                <a:ea typeface="맑은 고딕"/>
              </a:rPr>
              <a:t>SQL 실행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6" y="384962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B6BED0"/>
                </a:solidFill>
                <a:latin typeface="맑은 고딕"/>
                <a:ea typeface="맑은 고딕"/>
              </a:rPr>
              <a:t>MyBatis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5208" y="32004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5A623"/>
                </a:solidFill>
                <a:latin typeface="맑은 고딕"/>
                <a:ea typeface="맑은 고딕"/>
              </a:rPr>
              <a:t>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29800" y="2514600"/>
            <a:ext cx="1691640" cy="1737360"/>
          </a:xfrm>
          <a:prstGeom prst="roundRect">
            <a:avLst>
              <a:gd name="adj" fmla="val 12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88168" y="2697480"/>
            <a:ext cx="365760" cy="365760"/>
          </a:xfrm>
          <a:prstGeom prst="ellipse">
            <a:avLst/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9800" y="3099816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Oracle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3483864"/>
            <a:ext cx="1691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6EAF5"/>
                </a:solidFill>
                <a:latin typeface="맑은 고딕"/>
                <a:ea typeface="맑은 고딕"/>
              </a:rPr>
              <a:t>데이터 저장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84962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B6BED0"/>
                </a:solidFill>
                <a:latin typeface="맑은 고딕"/>
                <a:ea typeface="맑은 고딕"/>
              </a:rPr>
              <a:t>BR_* 테이블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526280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요청 흐름:  </a:t>
            </a:r>
            <a:r>
              <a:rPr sz="1300" b="0" i="0">
                <a:solidFill>
                  <a:srgbClr val="B6BED0"/>
                </a:solidFill>
                <a:latin typeface="맑은 고딕"/>
                <a:ea typeface="맑은 고딕"/>
              </a:rPr>
              <a:t>브라우저 요청 → DispatcherServlet이 알맞은 Controller로 전달 → Service 로직 → DAO·Mapper가 SQL 실행 → Oracle 응답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074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A623"/>
                </a:solidFill>
                <a:latin typeface="맑은 고딕"/>
                <a:ea typeface="맑은 고딕"/>
              </a:rPr>
              <a:t>패키지: </a:t>
            </a:r>
            <a:r>
              <a:rPr sz="1400" b="0" i="0">
                <a:solidFill>
                  <a:srgbClr val="B6BED0"/>
                </a:solidFill>
                <a:latin typeface="맑은 고딕"/>
                <a:ea typeface="맑은 고딕"/>
              </a:rPr>
              <a:t>kr.ac.kopo.{main · book · member · member.social · comment · wishlist} × (controller·service·dao·vo)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A623"/>
                </a:solidFill>
                <a:latin typeface="맑은 고딕"/>
                <a:ea typeface="맑은 고딕"/>
              </a:rPr>
              <a:t>인코딩: </a:t>
            </a:r>
            <a:r>
              <a:rPr sz="1400" b="0" i="0">
                <a:solidFill>
                  <a:srgbClr val="B6BED0"/>
                </a:solidFill>
                <a:latin typeface="맑은 고딕"/>
                <a:ea typeface="맑은 고딕"/>
              </a:rPr>
              <a:t>CharacterEncodingFilter(UTF-8) 전역 적용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04 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D1D1F"/>
                </a:solidFill>
                <a:latin typeface="맑은 고딕"/>
                <a:ea typeface="맑은 고딕"/>
              </a:rPr>
              <a:t>데이터베이스 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611880" cy="777240"/>
          </a:xfrm>
          <a:prstGeom prst="roundRect">
            <a:avLst>
              <a:gd name="adj" fmla="val 18000"/>
            </a:avLst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BR_MEMBER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회원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834640"/>
            <a:ext cx="3017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D1D1F"/>
                </a:solidFill>
                <a:latin typeface="맑은 고딕"/>
                <a:ea typeface="맑은 고딕"/>
              </a:rPr>
              <a:t>•  NO (PK)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ID / PASSWORD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NICKNAME / ROLE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D1D1F"/>
                </a:solidFill>
                <a:latin typeface="맑은 고딕"/>
                <a:ea typeface="맑은 고딕"/>
              </a:rPr>
              <a:t>•  FACE_DESCRIPTOR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PROVIDER / PROVIDER_ID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783080"/>
            <a:ext cx="3611880" cy="777240"/>
          </a:xfrm>
          <a:prstGeom prst="roundRect">
            <a:avLst>
              <a:gd name="adj" fmla="val 1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847088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BR_BOOK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945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도서 집계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34640"/>
            <a:ext cx="3017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D1D1F"/>
                </a:solidFill>
                <a:latin typeface="맑은 고딕"/>
                <a:ea typeface="맑은 고딕"/>
              </a:rPr>
              <a:t>•  NO (PK)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TITLE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REVIEW_COUNT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AVG_RATING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DIST1~5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POS/NEU/NEG_COUNT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8308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783080"/>
            <a:ext cx="3611880" cy="777240"/>
          </a:xfrm>
          <a:prstGeom prst="roundRect">
            <a:avLst>
              <a:gd name="adj" fmla="val 18000"/>
            </a:avLst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847088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BR_REVIEW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1945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샘플 리뷰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834640"/>
            <a:ext cx="3017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D1D1F"/>
                </a:solidFill>
                <a:latin typeface="맑은 고딕"/>
                <a:ea typeface="맑은 고딕"/>
              </a:rPr>
              <a:t>•  NO (PK)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D1D1F"/>
                </a:solidFill>
                <a:latin typeface="맑은 고딕"/>
                <a:ea typeface="맑은 고딕"/>
              </a:rPr>
              <a:t>•  BOOK_NO (FK)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CONTENT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RATING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04A4A"/>
                </a:solidFill>
                <a:latin typeface="맑은 고딕"/>
                <a:ea typeface="맑은 고딕"/>
              </a:rPr>
              <a:t>FACE_DESCRIPTOR</a:t>
            </a: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 = 128차원 얼굴 특징 벡터를 JSON 문자열로 저장  ·  FK: BR_REVIEW.BOOK_NO → BR_BOOK.NO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NEW  ·  EXTENDED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D1D1F"/>
                </a:solidFill>
                <a:latin typeface="맑은 고딕"/>
                <a:ea typeface="맑은 고딕"/>
              </a:rPr>
              <a:t>확장 데이터 모델 — 리뷰 · 좋아요 · 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A7080"/>
                </a:solidFill>
                <a:latin typeface="맑은 고딕"/>
                <a:ea typeface="맑은 고딕"/>
              </a:rPr>
              <a:t>회원 활동 기능을 위해 테이블 3개를 추가했다. 회원 연관 데이터는 탈퇴 시 함께 삭제된다.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61188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611880" cy="777240"/>
          </a:xfrm>
          <a:prstGeom prst="roundRect">
            <a:avLst>
              <a:gd name="adj" fmla="val 18000"/>
            </a:avLst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BR_COMMENT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회원 리뷰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200400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D1D1F"/>
                </a:solidFill>
                <a:latin typeface="맑은 고딕"/>
                <a:ea typeface="맑은 고딕"/>
              </a:rPr>
              <a:t>•  NO (PK)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D1D1F"/>
                </a:solidFill>
                <a:latin typeface="맑은 고딕"/>
                <a:ea typeface="맑은 고딕"/>
              </a:rPr>
              <a:t>•  MEMBER_NO (FK)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D1D1F"/>
                </a:solidFill>
                <a:latin typeface="맑은 고딕"/>
                <a:ea typeface="맑은 고딕"/>
              </a:rPr>
              <a:t>•  BOOK_NO (FK)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D1D1F"/>
                </a:solidFill>
                <a:latin typeface="맑은 고딕"/>
                <a:ea typeface="맑은 고딕"/>
              </a:rPr>
              <a:t>•  CONTENT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D1D1F"/>
                </a:solidFill>
                <a:latin typeface="맑은 고딕"/>
                <a:ea typeface="맑은 고딕"/>
              </a:rPr>
              <a:t>•  RATING (1~5)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D1D1F"/>
                </a:solidFill>
                <a:latin typeface="맑은 고딕"/>
                <a:ea typeface="맑은 고딕"/>
              </a:rPr>
              <a:t>•  REG_DATE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61188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2148840"/>
            <a:ext cx="3611880" cy="777240"/>
          </a:xfrm>
          <a:prstGeom prst="roundRect">
            <a:avLst>
              <a:gd name="adj" fmla="val 18000"/>
            </a:avLst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212848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BR_COMMENT_LIKE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603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리뷰 좋아요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00400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D1D1F"/>
                </a:solidFill>
                <a:latin typeface="맑은 고딕"/>
                <a:ea typeface="맑은 고딕"/>
              </a:rPr>
              <a:t>•  NO (PK)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D1D1F"/>
                </a:solidFill>
                <a:latin typeface="맑은 고딕"/>
                <a:ea typeface="맑은 고딕"/>
              </a:rPr>
              <a:t>•  MEMBER_NO (FK)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D1D1F"/>
                </a:solidFill>
                <a:latin typeface="맑은 고딕"/>
                <a:ea typeface="맑은 고딕"/>
              </a:rPr>
              <a:t>•  COMMENT_NO (FK)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D1D1F"/>
                </a:solidFill>
                <a:latin typeface="맑은 고딕"/>
                <a:ea typeface="맑은 고딕"/>
              </a:rPr>
              <a:t>•  UNIQUE (회원, 리뷰)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48840"/>
            <a:ext cx="361188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2148840"/>
            <a:ext cx="3611880" cy="777240"/>
          </a:xfrm>
          <a:prstGeom prst="roundRect">
            <a:avLst>
              <a:gd name="adj" fmla="val 1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212848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BR_WISHLIST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5603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200400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D1D1F"/>
                </a:solidFill>
                <a:latin typeface="맑은 고딕"/>
                <a:ea typeface="맑은 고딕"/>
              </a:rPr>
              <a:t>•  NO (PK)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D1D1F"/>
                </a:solidFill>
                <a:latin typeface="맑은 고딕"/>
                <a:ea typeface="맑은 고딕"/>
              </a:rPr>
              <a:t>•  MEMBER_NO (FK)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D1D1F"/>
                </a:solidFill>
                <a:latin typeface="맑은 고딕"/>
                <a:ea typeface="맑은 고딕"/>
              </a:rPr>
              <a:t>•  BOOK_NO (FK)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D1D1F"/>
                </a:solidFill>
                <a:latin typeface="맑은 고딕"/>
                <a:ea typeface="맑은 고딕"/>
              </a:rPr>
              <a:t>•  UNIQUE (회원, 도서)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04A4A"/>
                </a:solidFill>
                <a:latin typeface="맑은 고딕"/>
                <a:ea typeface="맑은 고딕"/>
              </a:rPr>
              <a:t>ON DELETE CASCADE</a:t>
            </a: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  —  회원 탈퇴 시 작성 리뷰·좋아요·찜 자동 삭제   ·   UNIQUE 제약으로 중복 좋아요/찜 방지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ERD  ·  ENTITY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1D1D1F"/>
                </a:solidFill>
                <a:latin typeface="맑은 고딕"/>
                <a:ea typeface="맑은 고딕"/>
              </a:rPr>
              <a:t>ERD — 전체 테이블 관계도</a:t>
            </a:r>
          </a:p>
        </p:txBody>
      </p:sp>
      <p:pic>
        <p:nvPicPr>
          <p:cNvPr id="5" name="Picture 4" descr="erd_book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1325880"/>
            <a:ext cx="8686800" cy="53494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05 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D1D1F"/>
                </a:solidFill>
                <a:latin typeface="맑은 고딕"/>
                <a:ea typeface="맑은 고딕"/>
              </a:rPr>
              <a:t>주요 기능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075688"/>
            <a:ext cx="640080" cy="640080"/>
          </a:xfrm>
          <a:prstGeom prst="ellipse">
            <a:avLst/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9456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1D1F"/>
                </a:solidFill>
                <a:latin typeface="맑은 고딕"/>
                <a:ea typeface="맑은 고딕"/>
              </a:rPr>
              <a:t>도서 검색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9260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A7080"/>
                </a:solidFill>
                <a:latin typeface="맑은 고딕"/>
                <a:ea typeface="맑은 고딕"/>
              </a:rPr>
              <a:t>제목 일부로 검색, 리뷰 많은 순 최대 50건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27448" y="2075688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19456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1D1F"/>
                </a:solidFill>
                <a:latin typeface="맑은 고딕"/>
                <a:ea typeface="맑은 고딕"/>
              </a:rPr>
              <a:t>평점 순위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260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A7080"/>
                </a:solidFill>
                <a:latin typeface="맑은 고딕"/>
                <a:ea typeface="맑은 고딕"/>
              </a:rPr>
              <a:t>리뷰 N개 이상 기준 평점 평균 TOP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830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22208" y="2075688"/>
            <a:ext cx="640080" cy="640080"/>
          </a:xfrm>
          <a:prstGeom prst="ellipse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19456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1D1F"/>
                </a:solidFill>
                <a:latin typeface="맑은 고딕"/>
                <a:ea typeface="맑은 고딕"/>
              </a:rPr>
              <a:t>리뷰 순위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9260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A7080"/>
                </a:solidFill>
                <a:latin typeface="맑은 고딕"/>
                <a:ea typeface="맑은 고딕"/>
              </a:rPr>
              <a:t>리뷰 수 기준 인기 도서 TOP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" y="4133088"/>
            <a:ext cx="640080" cy="640080"/>
          </a:xfrm>
          <a:prstGeom prst="ellipse">
            <a:avLst/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25196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1D1F"/>
                </a:solidFill>
                <a:latin typeface="맑은 고딕"/>
                <a:ea typeface="맑은 고딕"/>
              </a:rPr>
              <a:t>도서 상세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19" y="49834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A7080"/>
                </a:solidFill>
                <a:latin typeface="맑은 고딕"/>
                <a:ea typeface="맑은 고딕"/>
              </a:rPr>
              <a:t>평점 분포 · 감성 비율 · 샘플 리뷰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8404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27448" y="4133088"/>
            <a:ext cx="640080" cy="640080"/>
          </a:xfrm>
          <a:prstGeom prst="ellipse">
            <a:avLst/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25196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1D1F"/>
                </a:solidFill>
                <a:latin typeface="맑은 고딕"/>
                <a:ea typeface="맑은 고딕"/>
              </a:rPr>
              <a:t>회원/로그인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9834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A7080"/>
                </a:solidFill>
                <a:latin typeface="맑은 고딕"/>
                <a:ea typeface="맑은 고딕"/>
              </a:rPr>
              <a:t>가입 검증 · 세션 인증 · 중복 검사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8404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22208" y="4133088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25196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1D1F"/>
                </a:solidFill>
                <a:latin typeface="맑은 고딕"/>
                <a:ea typeface="맑은 고딕"/>
              </a:rPr>
              <a:t>얼굴 로그인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9834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A7080"/>
                </a:solidFill>
                <a:latin typeface="맑은 고딕"/>
                <a:ea typeface="맑은 고딕"/>
              </a:rPr>
              <a:t>카메라로 즉시 로그인 (거리 매칭)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NEW  ·  MEMBER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D1D1F"/>
                </a:solidFill>
                <a:latin typeface="맑은 고딕"/>
                <a:ea typeface="맑은 고딕"/>
              </a:rPr>
              <a:t>회원 기능 확장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148840" cy="3154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89888" y="2331720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D1D1F"/>
                </a:solidFill>
                <a:latin typeface="맑은 고딕"/>
                <a:ea typeface="맑은 고딕"/>
              </a:rPr>
              <a:t>카카오 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794760"/>
            <a:ext cx="1783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OAuth2 인가코드
최초 시 자동 가입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011680"/>
            <a:ext cx="2148840" cy="3154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75888" y="2331720"/>
            <a:ext cx="640080" cy="640080"/>
          </a:xfrm>
          <a:prstGeom prst="ellipse">
            <a:avLst/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15468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D1D1F"/>
                </a:solidFill>
                <a:latin typeface="맑은 고딕"/>
                <a:ea typeface="맑은 고딕"/>
              </a:rPr>
              <a:t>별점 리뷰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794760"/>
            <a:ext cx="1783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1~5점 + 본문
독자 리뷰에 통합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011680"/>
            <a:ext cx="2148840" cy="3154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61888" y="2331720"/>
            <a:ext cx="640080" cy="640080"/>
          </a:xfrm>
          <a:prstGeom prst="ellipse">
            <a:avLst/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15468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D1D1F"/>
                </a:solidFill>
                <a:latin typeface="맑은 고딕"/>
                <a:ea typeface="맑은 고딕"/>
              </a:rPr>
              <a:t>리뷰 좋아요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794760"/>
            <a:ext cx="1783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토글 · 좋아요 수
도움된 리뷰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011680"/>
            <a:ext cx="2148840" cy="3154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7888" y="2331720"/>
            <a:ext cx="640080" cy="640080"/>
          </a:xfrm>
          <a:prstGeom prst="ellipse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15468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D1D1F"/>
                </a:solidFill>
                <a:latin typeface="맑은 고딕"/>
                <a:ea typeface="맑은 고딕"/>
              </a:rPr>
              <a:t>찜하기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3794760"/>
            <a:ext cx="1783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보고싶은 책 저장
마이페이지 내 서재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011680"/>
            <a:ext cx="2148840" cy="3154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33888" y="2331720"/>
            <a:ext cx="640080" cy="640080"/>
          </a:xfrm>
          <a:prstGeom prst="ellipse">
            <a:avLst/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15468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D1D1F"/>
                </a:solidFill>
                <a:latin typeface="맑은 고딕"/>
                <a:ea typeface="맑은 고딕"/>
              </a:rPr>
              <a:t>마이페이지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9" y="3794760"/>
            <a:ext cx="1783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내 리뷰·좋아요·찜
회원 탈퇴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Spring Security 없이 </a:t>
            </a:r>
            <a:r>
              <a:rPr sz="1300" b="1" i="0">
                <a:solidFill>
                  <a:srgbClr val="2E7CE6"/>
                </a:solidFill>
                <a:latin typeface="맑은 고딕"/>
                <a:ea typeface="맑은 고딕"/>
              </a:rPr>
              <a:t>세션 기반 인증</a:t>
            </a: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으로 구현   ·   JDK HttpClient로 카카오 OAuth 직접 연동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ROLES  · 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맑은 고딕"/>
                <a:ea typeface="맑은 고딕"/>
              </a:rPr>
              <a:t>사용자 권한별 기능 — 비회원 · 회원 · 관리자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세션 기반 인증 · </a:t>
            </a:r>
            <a:r>
              <a:rPr sz="1300" b="1" i="0">
                <a:solidFill>
                  <a:srgbClr val="2E7CE6"/>
                </a:solidFill>
                <a:latin typeface="맑은 고딕"/>
                <a:ea typeface="맑은 고딕"/>
              </a:rPr>
              <a:t>ROLE 컬럼</a:t>
            </a: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으로 일반 회원과 관리자(ADMIN)를 구분한다.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6A7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🌐  비회원 (Guest)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로그인 없이 열람만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54680"/>
            <a:ext cx="31546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도서 검색 (제목 일부)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평점 순위 · 리뷰 순위 보기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도서 상세 — 평점 분포·감성·샘플 리뷰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E04A4A"/>
                </a:solidFill>
                <a:latin typeface="맑은 고딕"/>
                <a:ea typeface="맑은 고딕"/>
              </a:rPr>
              <a:t>— 리뷰 작성·찜·좋아요 불가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5740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176272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👤  회원 (User)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786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비회원 기능 + 활동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154680"/>
            <a:ext cx="31546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회원가입 · 로그인 / 카카오 로그인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얼굴 등록 · 얼굴 로그인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별점 리뷰 작성 · 삭제(본인)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리뷰 좋아요(토글) · 찜하기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마이페이지 — 내 리뷰·좋아요·찜·탈퇴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5740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205740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176272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🛡  관리자 (Admin)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5786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회원 기능 +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3154680"/>
            <a:ext cx="31546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관리자 대시보드 — 회원 수·도서 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전체 회원 목록 조회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도서 표지 이미지 경로 관리·수정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ROLE=ADMIN 세션만 /admin 접근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LOGIN  · 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D1D1F"/>
                </a:solidFill>
                <a:latin typeface="맑은 고딕"/>
                <a:ea typeface="맑은 고딕"/>
              </a:rPr>
              <a:t>로그인 — 3가지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세션 기반 인증.  </a:t>
            </a: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카카오 소셜 로그인</a:t>
            </a: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과 </a:t>
            </a:r>
            <a:r>
              <a:rPr sz="1300" b="1" i="0">
                <a:solidFill>
                  <a:srgbClr val="2E7CE6"/>
                </a:solidFill>
                <a:latin typeface="맑은 고딕"/>
                <a:ea typeface="맑은 고딕"/>
              </a:rPr>
              <a:t>얼굴 인식 로그인</a:t>
            </a: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까지 지원한다.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</a:rPr>
              <a:t>🔑  아이디 · 비밀번호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기본 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200400"/>
            <a:ext cx="31089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회원가입 시 입력값 검증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세션(HttpSession) 인증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로그아웃 · 회원 탈퇴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57400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19456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</a:rPr>
              <a:t>💬  카카오 로그인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786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OAuth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00400"/>
            <a:ext cx="31089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카카오 인가코드 방식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최초 로그인 시 자동 회원가입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비밀번호 없이 소셜 인증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57400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205740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19456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</a:rPr>
              <a:t>😊  얼굴 인식 로그인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5786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딥러닝 (face-api.js)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200400"/>
            <a:ext cx="31089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카메라로 얼굴 등록·로그인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128차원 얼굴 특징 추출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유클리드 거리로 본인 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06  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맑은 고딕"/>
                <a:ea typeface="맑은 고딕"/>
              </a:rPr>
              <a:t>평점 분포 &amp; 감성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6BED0"/>
                </a:solidFill>
                <a:latin typeface="맑은 고딕"/>
                <a:ea typeface="맑은 고딕"/>
              </a:rPr>
              <a:t>리뷰 평점(1~5)을 기준으로 감성을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A623"/>
                </a:solidFill>
                <a:latin typeface="맑은 고딕"/>
                <a:ea typeface="맑은 고딕"/>
              </a:rPr>
              <a:t>단순·명확하게 3분류</a:t>
            </a:r>
            <a:r>
              <a:rPr sz="1500" b="0" i="0">
                <a:solidFill>
                  <a:srgbClr val="B6BED0"/>
                </a:solidFill>
                <a:latin typeface="맑은 고딕"/>
                <a:ea typeface="맑은 고딕"/>
              </a:rPr>
              <a:t>하여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6BED0"/>
                </a:solidFill>
                <a:latin typeface="맑은 고딕"/>
                <a:ea typeface="맑은 고딕"/>
              </a:rPr>
              <a:t>도서 상세에서 막대로 시각화한다.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584448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긍정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584448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6BED0"/>
                </a:solidFill>
                <a:latin typeface="맑은 고딕"/>
                <a:ea typeface="맑은 고딕"/>
              </a:rPr>
              <a:t>4 ~ 5점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4361688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중립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361688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6BED0"/>
                </a:solidFill>
                <a:latin typeface="맑은 고딕"/>
                <a:ea typeface="맑은 고딕"/>
              </a:rPr>
              <a:t>3점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138927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부정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138927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6BED0"/>
                </a:solidFill>
                <a:latin typeface="맑은 고딕"/>
                <a:ea typeface="맑은 고딕"/>
              </a:rPr>
              <a:t>1 ~ 2점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783080"/>
            <a:ext cx="5029200" cy="4297680"/>
          </a:xfrm>
          <a:prstGeom prst="roundRect">
            <a:avLst>
              <a:gd name="adj" fmla="val 6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011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B6BED0"/>
                </a:solidFill>
                <a:latin typeface="맑은 고딕"/>
                <a:ea typeface="맑은 고딕"/>
              </a:rPr>
              <a:t>예시 — </a:t>
            </a:r>
            <a:r>
              <a:rPr sz="1400" b="1" i="0">
                <a:solidFill>
                  <a:srgbClr val="F5A623"/>
                </a:solidFill>
                <a:latin typeface="맑은 고딕"/>
                <a:ea typeface="맑은 고딕"/>
              </a:rPr>
              <a:t>데미안</a:t>
            </a:r>
            <a:r>
              <a:rPr sz="1400" b="0" i="0">
                <a:solidFill>
                  <a:srgbClr val="B6BED0"/>
                </a:solidFill>
                <a:latin typeface="맑은 고딕"/>
                <a:ea typeface="맑은 고딕"/>
              </a:rPr>
              <a:t>  (평균 4.63 ★)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743200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5★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7889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33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80960" y="27889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2743200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6BED0"/>
                </a:solidFill>
                <a:latin typeface="맑은 고딕"/>
                <a:ea typeface="맑은 고딕"/>
              </a:rPr>
              <a:t>419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31012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4★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3355848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33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80960" y="3355848"/>
            <a:ext cx="645535" cy="310896"/>
          </a:xfrm>
          <a:prstGeom prst="roundRect">
            <a:avLst>
              <a:gd name="adj" fmla="val 50000"/>
            </a:avLst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0" y="331012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6BED0"/>
                </a:solidFill>
                <a:latin typeface="맑은 고딕"/>
                <a:ea typeface="맑은 고딕"/>
              </a:rPr>
              <a:t>102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877056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3★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3922776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33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80960" y="3922776"/>
            <a:ext cx="164592" cy="31089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3877056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6BED0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44398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2★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4489704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33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80960" y="4489704"/>
            <a:ext cx="164592" cy="310896"/>
          </a:xfrm>
          <a:prstGeom prst="roundRect">
            <a:avLst>
              <a:gd name="adj" fmla="val 50000"/>
            </a:avLst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60" y="444398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6BED0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501091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1★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505663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33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80960" y="5056632"/>
            <a:ext cx="164592" cy="310896"/>
          </a:xfrm>
          <a:prstGeom prst="roundRect">
            <a:avLst>
              <a:gd name="adj" fmla="val 50000"/>
            </a:avLst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0" y="501091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6BED0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5532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A06A"/>
                </a:solidFill>
                <a:latin typeface="맑은 고딕"/>
                <a:ea typeface="맑은 고딕"/>
              </a:rPr>
              <a:t>긍정 </a:t>
            </a:r>
            <a:r>
              <a:rPr sz="1300" b="1" i="0">
                <a:solidFill>
                  <a:srgbClr val="2EA06A"/>
                </a:solidFill>
                <a:latin typeface="맑은 고딕"/>
                <a:ea typeface="맑은 고딕"/>
              </a:rPr>
              <a:t>92%</a:t>
            </a: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  ·  중립 </a:t>
            </a: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4%</a:t>
            </a:r>
            <a:r>
              <a:rPr sz="1300" b="1" i="0">
                <a:solidFill>
                  <a:srgbClr val="E04A4A"/>
                </a:solidFill>
                <a:latin typeface="맑은 고딕"/>
                <a:ea typeface="맑은 고딕"/>
              </a:rPr>
              <a:t>  ·  부정 </a:t>
            </a:r>
            <a:r>
              <a:rPr sz="1300" b="1" i="0">
                <a:solidFill>
                  <a:srgbClr val="E04A4A"/>
                </a:solidFill>
                <a:latin typeface="맑은 고딕"/>
                <a:ea typeface="맑은 고딕"/>
              </a:rPr>
              <a:t>4%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07  FACE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핵심 기술 — 얼굴 인식 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B6BED0"/>
                </a:solidFill>
                <a:latin typeface="맑은 고딕"/>
                <a:ea typeface="맑은 고딕"/>
              </a:rPr>
              <a:t>얼굴 인식은 브라우저(face-api.js)에서 수행하고, 서버는 특징 벡터 저장·조회만 담당한다.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2606040" cy="2468880"/>
          </a:xfrm>
          <a:prstGeom prst="roundRect">
            <a:avLst>
              <a:gd name="adj" fmla="val 10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8488" y="2697480"/>
            <a:ext cx="640080" cy="640080"/>
          </a:xfrm>
          <a:prstGeom prst="ellipse">
            <a:avLst/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얼굴 감지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02336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6BED0"/>
                </a:solidFill>
                <a:latin typeface="맑은 고딕"/>
                <a:ea typeface="맑은 고딕"/>
              </a:rPr>
              <a:t>face-api.js가 카메라
프레임에서 얼굴 검출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1" y="342900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A623"/>
                </a:solidFill>
                <a:latin typeface="맑은 고딕"/>
                <a:ea typeface="맑은 고딕"/>
              </a:rPr>
              <a:t>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468880"/>
            <a:ext cx="2606040" cy="2468880"/>
          </a:xfrm>
          <a:prstGeom prst="roundRect">
            <a:avLst>
              <a:gd name="adj" fmla="val 10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07408" y="2697480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52044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특징 추출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02336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6BED0"/>
                </a:solidFill>
                <a:latin typeface="맑은 고딕"/>
                <a:ea typeface="맑은 고딕"/>
              </a:rPr>
              <a:t>128차원 descriptor
벡터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1031" y="342900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A623"/>
                </a:solidFill>
                <a:latin typeface="맑은 고딕"/>
                <a:ea typeface="맑은 고딕"/>
              </a:rPr>
              <a:t>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2606040" cy="2468880"/>
          </a:xfrm>
          <a:prstGeom prst="roundRect">
            <a:avLst>
              <a:gd name="adj" fmla="val 10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96328" y="2697480"/>
            <a:ext cx="640080" cy="640080"/>
          </a:xfrm>
          <a:prstGeom prst="ellipse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52044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거리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2336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6BED0"/>
                </a:solidFill>
                <a:latin typeface="맑은 고딕"/>
                <a:ea typeface="맑은 고딕"/>
              </a:rPr>
              <a:t>등록된 전 회원과
유클리드 거리 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342900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A623"/>
                </a:solidFill>
                <a:latin typeface="맑은 고딕"/>
                <a:ea typeface="맑은 고딕"/>
              </a:rPr>
              <a:t>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2468880"/>
            <a:ext cx="2606040" cy="2468880"/>
          </a:xfrm>
          <a:prstGeom prst="roundRect">
            <a:avLst>
              <a:gd name="adj" fmla="val 10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85248" y="2697480"/>
            <a:ext cx="640080" cy="640080"/>
          </a:xfrm>
          <a:prstGeom prst="ellipse">
            <a:avLst/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52044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인증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402336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6BED0"/>
                </a:solidFill>
                <a:latin typeface="맑은 고딕"/>
                <a:ea typeface="맑은 고딕"/>
              </a:rPr>
              <a:t>최소 거리 ≤ 0.5 →
해당 회원 자동 로그인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A623"/>
                </a:solidFill>
                <a:latin typeface="맑은 고딕"/>
                <a:ea typeface="맑은 고딕"/>
              </a:rPr>
              <a:t>모델: </a:t>
            </a:r>
            <a:r>
              <a:rPr sz="1400" b="0" i="0">
                <a:solidFill>
                  <a:srgbClr val="B6BED0"/>
                </a:solidFill>
                <a:latin typeface="맑은 고딕"/>
                <a:ea typeface="맑은 고딕"/>
              </a:rPr>
              <a:t>ssdMobilenetv1 + faceLandmark68Net + faceRecognitionNet</a:t>
            </a:r>
            <a:r>
              <a:rPr sz="1400" b="1" i="0">
                <a:solidFill>
                  <a:srgbClr val="F5A623"/>
                </a:solidFill>
                <a:latin typeface="맑은 고딕"/>
                <a:ea typeface="맑은 고딕"/>
              </a:rPr>
              <a:t>   |   임계값 </a:t>
            </a:r>
            <a:r>
              <a:rPr sz="1400" b="0" i="0">
                <a:solidFill>
                  <a:srgbClr val="B6BED0"/>
                </a:solidFill>
                <a:latin typeface="맑은 고딕"/>
                <a:ea typeface="맑은 고딕"/>
              </a:rPr>
              <a:t>THRESHOLD = 0.5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08 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D1D1F"/>
                </a:solidFill>
                <a:latin typeface="맑은 고딕"/>
                <a:ea typeface="맑은 고딕"/>
              </a:rPr>
              <a:t>개발 중 해결한 문제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075688"/>
            <a:ext cx="457200" cy="457200"/>
          </a:xfrm>
          <a:prstGeom prst="ellipse">
            <a:avLst/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929384"/>
            <a:ext cx="4023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D1D1F"/>
                </a:solidFill>
                <a:latin typeface="맑은 고딕"/>
                <a:ea typeface="맑은 고딕"/>
              </a:rPr>
              <a:t>@RequestParam 이름 누락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IllegalArgumentException ('-parameters')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929384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04A4A"/>
                </a:solidFill>
                <a:latin typeface="맑은 고딕"/>
                <a:ea typeface="맑은 고딕"/>
              </a:rPr>
              <a:t>해결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9384"/>
            <a:ext cx="4754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어노테이션에 name 명시 → @RequestParam(name="min")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53512"/>
            <a:ext cx="108813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2461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3099816"/>
            <a:ext cx="4023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D1D1F"/>
                </a:solidFill>
                <a:latin typeface="맑은 고딕"/>
                <a:ea typeface="맑은 고딕"/>
              </a:rPr>
              <a:t>WTP 배포 누락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컴파일 클래스가 wtpwebapps에 0개 배포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099816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5A623"/>
                </a:solidFill>
                <a:latin typeface="맑은 고딕"/>
                <a:ea typeface="맑은 고딕"/>
              </a:rPr>
              <a:t>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99816"/>
            <a:ext cx="4754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target/classes 동기화 + 서버 Clean 재배포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23944"/>
            <a:ext cx="108813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416552"/>
            <a:ext cx="457200" cy="457200"/>
          </a:xfrm>
          <a:prstGeom prst="ellipse">
            <a:avLst/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4270248"/>
            <a:ext cx="4023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D1D1F"/>
                </a:solidFill>
                <a:latin typeface="맑은 고딕"/>
                <a:ea typeface="맑은 고딕"/>
              </a:rPr>
              <a:t>SQL '&amp;' 치환변수 오류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리뷰 내 &amp; 기호를 변수로 오인해 입력 멈춤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270248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CE6"/>
                </a:solidFill>
                <a:latin typeface="맑은 고딕"/>
                <a:ea typeface="맑은 고딕"/>
              </a:rPr>
              <a:t>해결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70248"/>
            <a:ext cx="4754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스크립트 상단 SET DEFINE OFF 추가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94376"/>
            <a:ext cx="108813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5586984"/>
            <a:ext cx="457200" cy="457200"/>
          </a:xfrm>
          <a:prstGeom prst="ellipse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5440680"/>
            <a:ext cx="4023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D1D1F"/>
                </a:solidFill>
                <a:latin typeface="맑은 고딕"/>
                <a:ea typeface="맑은 고딕"/>
              </a:rPr>
              <a:t>제목 링크 깨짐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'+'·공백·괄호가 URL에서 변형 → 상세 404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5440680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A06A"/>
                </a:solidFill>
                <a:latin typeface="맑은 고딕"/>
                <a:ea typeface="맑은 고딕"/>
              </a:rPr>
              <a:t>해결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440680"/>
            <a:ext cx="4754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&lt;c:url&gt;+&lt;c:param&gt;으로 URL 인코딩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SCOPE  ·  DONE vs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D1D1F"/>
                </a:solidFill>
                <a:latin typeface="맑은 고딕"/>
                <a:ea typeface="맑은 고딕"/>
              </a:rPr>
              <a:t>구현한 기능 · 아쉬운 점(미구현)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94960" cy="731520"/>
          </a:xfrm>
          <a:prstGeom prst="roundRect">
            <a:avLst>
              <a:gd name="adj" fmla="val 14000"/>
            </a:avLst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✅  구현 완료 (한 것)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9377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도서 검색 · 평점/리뷰 순위 · 도서 상세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평점 분포 + 감성(긍정/중립/부정) 시각화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회원가입 · 세션 로그인 · 카카오 OAuth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face-api.js 얼굴 등록 · 얼굴 로그인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별점 리뷰 · 좋아요 · 찜 · 마이페이지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관리자 대시보드 · 회원관리 · 표지관리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ON DELETE CASCADE 회원 데이터 정리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4924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349240" cy="731520"/>
          </a:xfrm>
          <a:prstGeom prst="roundRect">
            <a:avLst>
              <a:gd name="adj" fmla="val 14000"/>
            </a:avLst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⚠  미구현 · 아쉬운 점 (못한 것)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97480"/>
            <a:ext cx="49377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관리자 기능 한정 — 회원 강제탈퇴·리뷰 신고/삭제 없음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실시간 크롤링 파이프라인 미연동 (정적 데이터)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감성 분석이 별점 규칙 기반 (NLP 모델 아님)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검색 페이징 · 자동완성 미구현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도서 표지 일부 누락 · 이미지 업로드 미지원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모바일 반응형 최적화 부족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ROADMAP  · 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D1D1F"/>
                </a:solidFill>
                <a:latin typeface="맑은 고딕"/>
                <a:ea typeface="맑은 고딕"/>
              </a:rPr>
              <a:t>향후 계획 — 발전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현재 아쉬운 점을 다음 단계로 이어가는 계획.  </a:t>
            </a:r>
            <a:r>
              <a:rPr sz="1300" b="1" i="0">
                <a:solidFill>
                  <a:srgbClr val="2E7CE6"/>
                </a:solidFill>
                <a:latin typeface="맑은 고딕"/>
                <a:ea typeface="맑은 고딕"/>
              </a:rPr>
              <a:t>★ 얼굴인식 서버 분리를 1순위</a:t>
            </a: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로 진행한다.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34924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194560"/>
            <a:ext cx="4754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🔐  보안 ·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57860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</a:rPr>
              <a:t>최우선 (다음 단계)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46634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1D1D1F"/>
                </a:solidFill>
                <a:latin typeface="맑은 고딕"/>
                <a:ea typeface="맑은 고딕"/>
              </a:rPr>
              <a:t>•  얼굴인식 FastAPI 서버 분리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1D1D1F"/>
                </a:solidFill>
                <a:latin typeface="맑은 고딕"/>
                <a:ea typeface="맑은 고딕"/>
              </a:rPr>
              <a:t>•  서버 측 얼굴 인증 (보안 강화)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57400"/>
            <a:ext cx="534924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205740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754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🛠  기능 확장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7860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</a:rPr>
              <a:t>중기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246120"/>
            <a:ext cx="46634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1D1D1F"/>
                </a:solidFill>
                <a:latin typeface="맑은 고딕"/>
                <a:ea typeface="맑은 고딕"/>
              </a:rPr>
              <a:t>•  관리자 도서 CRUD (추가·삭제)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1D1D1F"/>
                </a:solidFill>
                <a:latin typeface="맑은 고딕"/>
                <a:ea typeface="맑은 고딕"/>
              </a:rPr>
              <a:t>•  도서 표지 이미지 업로드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1D1D1F"/>
                </a:solidFill>
                <a:latin typeface="맑은 고딕"/>
                <a:ea typeface="맑은 고딕"/>
              </a:rPr>
              <a:t>•  검색 페이징 · 자동완성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7CE6"/>
                </a:solidFill>
                <a:latin typeface="맑은 고딕"/>
                <a:ea typeface="맑은 고딕"/>
              </a:rPr>
              <a:t>★ 교수님 피드백 반영 — </a:t>
            </a:r>
            <a:r>
              <a:rPr sz="1250" b="0" i="0">
                <a:solidFill>
                  <a:srgbClr val="6A7080"/>
                </a:solidFill>
                <a:latin typeface="맑은 고딕"/>
                <a:ea typeface="맑은 고딕"/>
              </a:rPr>
              <a:t>브라우저에서 하던 얼굴인식을 독립 Python 서버(FastAPI)로 분리해 보안·확장성 개선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09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결론 &amp; 향후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B6BED0"/>
                </a:solidFill>
                <a:latin typeface="맑은 고딕"/>
                <a:ea typeface="맑은 고딕"/>
              </a:rPr>
              <a:t>Spring MVC · MyBatis · Oracle 3계층 구조로 </a:t>
            </a:r>
            <a:r>
              <a:rPr sz="1700" b="1" i="0">
                <a:solidFill>
                  <a:srgbClr val="F5A623"/>
                </a:solidFill>
                <a:latin typeface="맑은 고딕"/>
                <a:ea typeface="맑은 고딕"/>
              </a:rPr>
              <a:t>도서 리뷰 분석 플랫폼</a:t>
            </a:r>
            <a:r>
              <a:rPr sz="1700" b="0" i="0">
                <a:solidFill>
                  <a:srgbClr val="B6BED0"/>
                </a:solidFill>
                <a:latin typeface="맑은 고딕"/>
                <a:ea typeface="맑은 고딕"/>
              </a:rPr>
              <a:t>을 구현하고,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B6BED0"/>
                </a:solidFill>
                <a:latin typeface="맑은 고딕"/>
                <a:ea typeface="맑은 고딕"/>
              </a:rPr>
              <a:t>브라우저 딥러닝(face-api.js)을 접목해 </a:t>
            </a:r>
            <a:r>
              <a:rPr sz="1700" b="1" i="0">
                <a:solidFill>
                  <a:srgbClr val="F5A623"/>
                </a:solidFill>
                <a:latin typeface="맑은 고딕"/>
                <a:ea typeface="맑은 고딕"/>
              </a:rPr>
              <a:t>얼굴 인식 로그인</a:t>
            </a:r>
            <a:r>
              <a:rPr sz="1700" b="0" i="0">
                <a:solidFill>
                  <a:srgbClr val="B6BED0"/>
                </a:solidFill>
                <a:latin typeface="맑은 고딕"/>
                <a:ea typeface="맑은 고딕"/>
              </a:rPr>
              <a:t>까지 완성했다.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3520440" cy="1737360"/>
          </a:xfrm>
          <a:prstGeom prst="roundRect">
            <a:avLst>
              <a:gd name="adj" fmla="val 10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4023360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161B2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02336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얼굴인식 서버 분리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47091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B6BED0"/>
                </a:solidFill>
                <a:latin typeface="맑은 고딕"/>
                <a:ea typeface="맑은 고딕"/>
              </a:rPr>
              <a:t>FastAPI로 서버 측 인증 (보안↑)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49039"/>
            <a:ext cx="3520440" cy="1737360"/>
          </a:xfrm>
          <a:prstGeom prst="roundRect">
            <a:avLst>
              <a:gd name="adj" fmla="val 10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4023360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161B2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02336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데이터 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7091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B6BED0"/>
                </a:solidFill>
                <a:latin typeface="맑은 고딕"/>
                <a:ea typeface="맑은 고딕"/>
              </a:rPr>
              <a:t>실시간 크롤링 파이프라인 연동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49039"/>
            <a:ext cx="3520440" cy="1737360"/>
          </a:xfrm>
          <a:prstGeom prst="roundRect">
            <a:avLst>
              <a:gd name="adj" fmla="val 10000"/>
            </a:avLst>
          </a:prstGeom>
          <a:solidFill>
            <a:srgbClr val="2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4023360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161B2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02336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감성 고도화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7091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B6BED0"/>
                </a:solidFill>
                <a:latin typeface="맑은 고딕"/>
                <a:ea typeface="맑은 고딕"/>
              </a:rPr>
              <a:t>NLP 모델 기반 감성 분류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A623"/>
                </a:solidFill>
                <a:latin typeface="맑은 고딕"/>
                <a:ea typeface="맑은 고딕"/>
              </a:rPr>
              <a:t>BookReview</a:t>
            </a: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  ·  Spring 발표자료  ·  kr.ac.kopo  ·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
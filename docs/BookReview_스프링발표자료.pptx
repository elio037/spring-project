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5" r:id="rId5"/>
    <p:sldId id="266" r:id="rId6"/>
    <p:sldId id="270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defRPr/>
            </a:pPr>
            <a:r>
              <a:rPr sz="2400" b="1" i="0">
                <a:solidFill>
                  <a:srgbClr val="161b2e"/>
                </a:solidFill>
                <a:latin typeface="맑은 고딕"/>
                <a:ea typeface="맑은 고딕"/>
              </a:rPr>
              <a:t>★</a:t>
            </a:r>
            <a:endParaRPr sz="2400" b="1" i="0">
              <a:solidFill>
                <a:srgbClr val="161b2e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841248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BookReview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81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5400" b="0" i="0">
                <a:solidFill>
                  <a:srgbClr val="ffffff"/>
                </a:solidFill>
                <a:latin typeface="맑은 고딕"/>
                <a:ea typeface="맑은 고딕"/>
              </a:rPr>
              <a:t>독자 리뷰 기반 도서 탐색 플랫폼 </a:t>
            </a:r>
            <a:endParaRPr sz="5400" b="1" i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7796" y="3747335"/>
            <a:ext cx="268905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lang="en-US" altLang="ko-KR" sz="2000" b="0" i="0">
                <a:solidFill>
                  <a:schemeClr val="lt1"/>
                </a:solidFill>
                <a:latin typeface="맑은 고딕"/>
                <a:ea typeface="맑은 고딕"/>
              </a:rPr>
              <a:t>2503110169</a:t>
            </a:r>
            <a:r>
              <a:rPr lang="ko-KR" altLang="en-US" sz="2000" b="0" i="0">
                <a:solidFill>
                  <a:schemeClr val="lt1"/>
                </a:solidFill>
                <a:latin typeface="맑은 고딕"/>
                <a:ea typeface="맑은 고딕"/>
              </a:rPr>
              <a:t> 박종인</a:t>
            </a:r>
            <a:endParaRPr lang="ko-KR" altLang="en-US" sz="2000" b="0" i="0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10058400" cy="173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endParaRPr sz="1200" b="0" i="0">
              <a:solidFill>
                <a:srgbClr val="6a708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01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D1D1F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14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</a:rPr>
              <a:t>“독자가 남긴 실제 리뷰”로 책을 고르는  </a:t>
            </a:r>
            <a:r>
              <a:rPr sz="1900" b="1" i="0">
                <a:solidFill>
                  <a:srgbClr val="FFE6B0"/>
                </a:solidFill>
                <a:latin typeface="맑은 고딕"/>
                <a:ea typeface="맑은 고딕"/>
              </a:rPr>
              <a:t>도서 리뷰 · 탐색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150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500" b="1" i="0">
                <a:solidFill>
                  <a:schemeClr val="accent3"/>
                </a:solidFill>
                <a:latin typeface="맑은 고딕"/>
                <a:ea typeface="맑은 고딕"/>
              </a:rPr>
              <a:t>벤치마킹</a:t>
            </a:r>
            <a:r>
              <a:rPr lang="en-US" altLang="ko-KR" sz="1500" b="1" i="0">
                <a:solidFill>
                  <a:schemeClr val="accent3"/>
                </a:solidFill>
                <a:latin typeface="맑은 고딕"/>
                <a:ea typeface="맑은 고딕"/>
              </a:rPr>
              <a:t>:</a:t>
            </a:r>
            <a:r>
              <a:rPr lang="ko-KR" altLang="en-US" sz="1500" b="1" i="0">
                <a:solidFill>
                  <a:schemeClr val="accent3"/>
                </a:solidFill>
                <a:latin typeface="맑은 고딕"/>
                <a:ea typeface="맑은 고딕"/>
              </a:rPr>
              <a:t> 다나와</a:t>
            </a:r>
            <a:endParaRPr lang="ko-KR" altLang="en-US" sz="1500" b="1" i="0">
              <a:solidFill>
                <a:srgbClr val="2e7ce6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ko-KR" altLang="en-US" sz="1500" b="1" i="0">
                <a:solidFill>
                  <a:srgbClr val="2e7ce6"/>
                </a:solidFill>
                <a:latin typeface="맑은 고딕"/>
                <a:ea typeface="맑은 고딕"/>
              </a:rPr>
              <a:t>온라인 </a:t>
            </a:r>
            <a:r>
              <a:rPr sz="1500" b="1" i="0">
                <a:solidFill>
                  <a:srgbClr val="2e7ce6"/>
                </a:solidFill>
                <a:latin typeface="맑은 고딕"/>
                <a:ea typeface="맑은 고딕"/>
              </a:rPr>
              <a:t>도서 </a:t>
            </a:r>
            <a:r>
              <a:rPr lang="en-US" altLang="ko-KR" sz="1500" b="1" i="0">
                <a:solidFill>
                  <a:srgbClr val="2e7ce6"/>
                </a:solidFill>
                <a:latin typeface="맑은 고딕"/>
                <a:ea typeface="맑은 고딕"/>
              </a:rPr>
              <a:t>3</a:t>
            </a:r>
            <a:r>
              <a:rPr lang="ko-KR" altLang="en-US" sz="1500" b="1" i="0">
                <a:solidFill>
                  <a:srgbClr val="2e7ce6"/>
                </a:solidFill>
                <a:latin typeface="맑은 고딕"/>
                <a:ea typeface="맑은 고딕"/>
              </a:rPr>
              <a:t>사의 </a:t>
            </a:r>
            <a:r>
              <a:rPr sz="1500" b="1" i="0">
                <a:solidFill>
                  <a:srgbClr val="2e7ce6"/>
                </a:solidFill>
                <a:latin typeface="맑은 고딕"/>
                <a:ea typeface="맑은 고딕"/>
              </a:rPr>
              <a:t>리뷰 크롤링 </a:t>
            </a:r>
            <a:r>
              <a:rPr lang="ko-KR" altLang="en-US" sz="1500" b="1" i="0">
                <a:solidFill>
                  <a:srgbClr val="2e7ce6"/>
                </a:solidFill>
                <a:latin typeface="맑은 고딕"/>
                <a:ea typeface="맑은 고딕"/>
              </a:rPr>
              <a:t>전처리 </a:t>
            </a:r>
            <a:r>
              <a:rPr sz="1500" b="1" i="0">
                <a:solidFill>
                  <a:srgbClr val="2e7ce6"/>
                </a:solidFill>
                <a:latin typeface="맑은 고딕"/>
                <a:ea typeface="맑은 고딕"/>
              </a:rPr>
              <a:t>데이터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를 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사용하여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 도서 검색 · 평점/리뷰 순위 · 상세 통계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(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별점 분포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)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를 제공하는 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사이트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.</a:t>
            </a:r>
            <a:b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</a:br>
            <a:b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</a:br>
            <a:r>
              <a:rPr sz="1500" b="1" i="0">
                <a:solidFill>
                  <a:srgbClr val="1d1d1f"/>
                </a:solidFill>
                <a:latin typeface="맑은 고딕"/>
                <a:ea typeface="맑은 고딕"/>
              </a:rPr>
              <a:t>얼굴 인식 로그인</a:t>
            </a:r>
            <a:r>
              <a:rPr sz="1500" b="0" i="0">
                <a:solidFill>
                  <a:srgbClr val="1d1d1f"/>
                </a:solidFill>
                <a:latin typeface="맑은 고딕"/>
                <a:ea typeface="맑은 고딕"/>
              </a:rPr>
              <a:t>과 카카오 로그 지원한다.</a:t>
            </a:r>
            <a:b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</a:b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얼굴 로그인 사용모델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:tensorflow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face-api.js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라이브러리</a:t>
            </a:r>
            <a:r>
              <a:rPr lang="en-US" altLang="ko-KR" sz="1500" b="0" i="0">
                <a:solidFill>
                  <a:srgbClr val="1d1d1f"/>
                </a:solidFill>
                <a:latin typeface="맑은 고딕"/>
                <a:ea typeface="맑은 고딕"/>
              </a:rPr>
              <a:t>.</a:t>
            </a:r>
            <a:r>
              <a:rPr lang="ko-KR" altLang="en-US" sz="1500" b="0" i="0">
                <a:solidFill>
                  <a:srgbClr val="1d1d1f"/>
                </a:solidFill>
                <a:latin typeface="맑은 고딕"/>
                <a:ea typeface="맑은 고딕"/>
              </a:rPr>
              <a:t> </a:t>
            </a:r>
            <a:endParaRPr lang="ko-KR" altLang="en-US" sz="150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ERD  ·  ENTITY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1D1D1F"/>
                </a:solidFill>
                <a:latin typeface="맑은 고딕"/>
                <a:ea typeface="맑은 고딕"/>
              </a:rPr>
              <a:t>ERD — 전체 테이블 관계도</a:t>
            </a:r>
          </a:p>
        </p:txBody>
      </p:sp>
      <p:pic>
        <p:nvPicPr>
          <p:cNvPr id="5" name="Picture 4" descr="erd_book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325880"/>
            <a:ext cx="8686800" cy="53494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ROLES  · 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맑은 고딕"/>
                <a:ea typeface="맑은 고딕"/>
              </a:rPr>
              <a:t>사용자 권한별 기능 — 비회원 · 회원 · 관리자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세션 기반 인증 ·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ROLE 컬럼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으로 일반 회원과 관리자(ADMIN)를 구분한다.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6A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🌐  비회원 (Guest)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로그인 없이 열람만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검색 (제목 일부)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평점 순위 · 리뷰 순위 보기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상세 — 평점 분포·감성·샘플 리뷰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E04A4A"/>
                </a:solidFill>
                <a:latin typeface="맑은 고딕"/>
                <a:ea typeface="맑은 고딕"/>
              </a:rPr>
              <a:t>— 리뷰 작성·찜·좋아요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👤  회원 (User)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비회원 기능 +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154680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회원가입 · 로그인 / 카카오 로그인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얼굴 등록 · 얼굴 로그인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별점 리뷰 작성 · 삭제(본인)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리뷰 좋아요(토글) · 찜하기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마이페이지 — 내 리뷰·좋아요·찜·탈퇴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76272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🛡  관리자 (Admin)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회원 기능 +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154680"/>
            <a:ext cx="3154679" cy="1141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관리자 대시보드 — 회원 수·도서 수</a:t>
            </a:r>
            <a:endParaRPr sz="1200" b="0" i="0">
              <a:solidFill>
                <a:srgbClr val="6a7080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전체 회원 목록 조회</a:t>
            </a:r>
            <a:endParaRPr sz="1200" b="0" i="0">
              <a:solidFill>
                <a:srgbClr val="6a7080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200" b="0" i="0">
                <a:solidFill>
                  <a:srgbClr val="6a7080"/>
                </a:solidFill>
                <a:latin typeface="맑은 고딕"/>
                <a:ea typeface="맑은 고딕"/>
              </a:rPr>
              <a:t>•  도서 표지 이미지 경로 관리·수정</a:t>
            </a:r>
            <a:endParaRPr sz="1200" b="0" i="0">
              <a:solidFill>
                <a:srgbClr val="6a7080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/>
            </a:pPr>
            <a:endParaRPr sz="1200" b="0" i="0">
              <a:solidFill>
                <a:srgbClr val="6a708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LOGIN  ·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로그인 — 3가지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세션 기반 인증.  </a:t>
            </a: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카카오 소셜 로그인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과 </a:t>
            </a:r>
            <a:r>
              <a:rPr sz="1300" b="1" i="0">
                <a:solidFill>
                  <a:srgbClr val="2E7CE6"/>
                </a:solidFill>
                <a:latin typeface="맑은 고딕"/>
                <a:ea typeface="맑은 고딕"/>
              </a:rPr>
              <a:t>얼굴 인식 로그인</a:t>
            </a:r>
            <a:r>
              <a:rPr sz="1300" b="0" i="0">
                <a:solidFill>
                  <a:srgbClr val="6A7080"/>
                </a:solidFill>
                <a:latin typeface="맑은 고딕"/>
                <a:ea typeface="맑은 고딕"/>
              </a:rPr>
              <a:t>까지 지원한다.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🔑  아이디 · 비밀번호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기본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200400"/>
            <a:ext cx="31089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</a:t>
            </a:r>
            <a:r>
              <a:rPr lang="ko-KR" altLang="en-US" sz="1300" b="0" i="0">
                <a:solidFill>
                  <a:srgbClr val="1d1d1f"/>
                </a:solidFill>
                <a:latin typeface="맑은 고딕"/>
                <a:ea typeface="맑은 고딕"/>
              </a:rPr>
              <a:t>회원가입</a:t>
            </a:r>
            <a:r>
              <a:rPr lang="en-US" altLang="ko-KR" sz="1300" b="0" i="0">
                <a:solidFill>
                  <a:srgbClr val="1d1d1f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b="0" i="0">
                <a:solidFill>
                  <a:srgbClr val="1d1d1f"/>
                </a:solidFill>
                <a:latin typeface="맑은 고딕"/>
                <a:ea typeface="맑은 고딕"/>
              </a:rPr>
              <a:t>아이디</a:t>
            </a:r>
            <a:r>
              <a:rPr lang="en-US" altLang="ko-KR" sz="1300" b="0" i="0">
                <a:solidFill>
                  <a:srgbClr val="1d1d1f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 b="0" i="0">
                <a:solidFill>
                  <a:srgbClr val="1d1d1f"/>
                </a:solidFill>
                <a:latin typeface="맑은 고딕"/>
                <a:ea typeface="맑은 고딕"/>
              </a:rPr>
              <a:t>비밀번호</a:t>
            </a:r>
            <a:r>
              <a:rPr lang="en-US" altLang="ko-KR" sz="1300" b="0" i="0">
                <a:solidFill>
                  <a:srgbClr val="1d1d1f"/>
                </a:solidFill>
                <a:latin typeface="맑은 고딕"/>
                <a:ea typeface="맑은 고딕"/>
              </a:rPr>
              <a:t>/</a:t>
            </a:r>
            <a:r>
              <a:rPr lang="ko-KR" altLang="en-US" sz="1300" b="0" i="0">
                <a:solidFill>
                  <a:srgbClr val="1d1d1f"/>
                </a:solidFill>
                <a:latin typeface="맑은 고딕"/>
                <a:ea typeface="맑은 고딕"/>
              </a:rPr>
              <a:t>닉네임</a:t>
            </a:r>
            <a:r>
              <a:rPr lang="en-US" altLang="ko-KR" sz="1300" b="0" i="0">
                <a:solidFill>
                  <a:srgbClr val="1d1d1f"/>
                </a:solidFill>
                <a:latin typeface="맑은 고딕"/>
                <a:ea typeface="맑은 고딕"/>
              </a:rPr>
              <a:t>)</a:t>
            </a:r>
            <a:endParaRPr lang="en-US" altLang="ko-KR" sz="130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💬  카카오 로그인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7860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lang="ko-KR" altLang="en-US" sz="1100" b="0" i="0">
                <a:solidFill>
                  <a:srgbClr val="ffffff"/>
                </a:solidFill>
                <a:latin typeface="맑은 고딕"/>
                <a:ea typeface="맑은 고딕"/>
              </a:rPr>
              <a:t>소셜 로그인</a:t>
            </a:r>
            <a:endParaRPr lang="ko-KR" altLang="en-US" sz="1100" b="0" i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310896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최초 로그인 시 자동 회원가입</a:t>
            </a:r>
            <a:endParaRPr sz="130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비밀번호 없이 소셜 인증</a:t>
            </a:r>
            <a:endParaRPr sz="130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2E7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😊  얼굴 인식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7860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lang="en-US" altLang="ko-KR" sz="1100" b="0" i="0">
                <a:solidFill>
                  <a:srgbClr val="ffffff"/>
                </a:solidFill>
                <a:latin typeface="맑은 고딕"/>
                <a:ea typeface="맑은 고딕"/>
              </a:rPr>
              <a:t>face-api.js  </a:t>
            </a:r>
            <a:r>
              <a:rPr lang="ko-KR" altLang="en-US" sz="1100" b="0" i="0">
                <a:solidFill>
                  <a:srgbClr val="ffffff"/>
                </a:solidFill>
                <a:latin typeface="맑은 고딕"/>
                <a:ea typeface="맑은 고딕"/>
              </a:rPr>
              <a:t>라이브러리 기반 로그인</a:t>
            </a:r>
            <a:endParaRPr lang="ko-KR" altLang="en-US" sz="1100" b="0" i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9640" y="3200400"/>
            <a:ext cx="310896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카메라로 얼굴 등록·로그인</a:t>
            </a:r>
            <a:endParaRPr sz="130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sz="1300" b="0" i="0">
                <a:solidFill>
                  <a:srgbClr val="1d1d1f"/>
                </a:solidFill>
                <a:latin typeface="맑은 고딕"/>
                <a:ea typeface="맑은 고딕"/>
              </a:rPr>
              <a:t>•  128차원 얼굴 특징 추출</a:t>
            </a:r>
            <a:endParaRPr sz="130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5A623"/>
                </a:solidFill>
                <a:latin typeface="맑은 고딕"/>
                <a:ea typeface="맑은 고딕"/>
              </a:rPr>
              <a:t>SCOPE  ·  DONE vs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D1D1F"/>
                </a:solidFill>
                <a:latin typeface="맑은 고딕"/>
                <a:ea typeface="맑은 고딕"/>
              </a:rPr>
              <a:t>구현한 기능 · 아쉬운 점(미구현)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9496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731520"/>
          </a:xfrm>
          <a:prstGeom prst="roundRect">
            <a:avLst>
              <a:gd name="adj" fmla="val 14000"/>
            </a:avLst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✅  구현 완료 (한 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937760" cy="2045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도서 검색 · 평점/리뷰 순위 · 도서 상세</a:t>
            </a: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평점 +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별점 분포 시각화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회원가입 ·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얼굴 등록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/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얼굴</a:t>
            </a: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 로그인 · 카카오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로그인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별점 리뷰 · 좋아요 · 찜 · 마이페이지</a:t>
            </a: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관리자 대시보드 · 회원관리 · 표지관리</a:t>
            </a: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349240" cy="731520"/>
          </a:xfrm>
          <a:prstGeom prst="roundRect">
            <a:avLst>
              <a:gd name="adj" fmla="val 14000"/>
            </a:avLst>
          </a:prstGeom>
          <a:solidFill>
            <a:srgbClr val="E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⚠  미구현 · 아쉬운 점 (못한 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4937760" cy="337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 관리자 기능 한정 — 회원 강제탈퇴·리뷰 신고/삭제 없음</a:t>
            </a: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전처리 데이터 모두 사용 못함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실시간 크롤링 파이프라인 미연동 (정적 데이터)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카테고리별 책 구별 미구현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(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전처리 단계에서 카테고리 삭제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)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상세 별점 검색 불가능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(1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점을 찾고싶을때 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1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점짜리만 선택해서 </a:t>
            </a:r>
            <a:b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</a:b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볼 수있는기능 미구현</a:t>
            </a:r>
            <a:r>
              <a:rPr lang="en-US" altLang="ko-KR" sz="1350" b="0" i="0">
                <a:solidFill>
                  <a:srgbClr val="1d1d1f"/>
                </a:solidFill>
                <a:latin typeface="맑은 고딕"/>
                <a:ea typeface="맑은 고딕"/>
              </a:rPr>
              <a:t>)</a:t>
            </a:r>
            <a:endParaRPr lang="en-US" altLang="ko-KR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sz="1350" b="0" i="0">
                <a:solidFill>
                  <a:srgbClr val="1d1d1f"/>
                </a:solidFill>
                <a:latin typeface="맑은 고딕"/>
                <a:ea typeface="맑은 고딕"/>
              </a:rPr>
              <a:t>•</a:t>
            </a:r>
            <a:r>
              <a:rPr lang="ko-KR" altLang="en-US" sz="1350" b="0" i="0">
                <a:solidFill>
                  <a:srgbClr val="1d1d1f"/>
                </a:solidFill>
                <a:latin typeface="맑은 고딕"/>
                <a:ea typeface="맑은 고딕"/>
              </a:rPr>
              <a:t>카카오 로그인 탈퇴 미구현</a:t>
            </a: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endParaRPr sz="1350" b="0" i="0">
              <a:solidFill>
                <a:srgbClr val="1d1d1f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/>
            </a:pPr>
            <a:endParaRPr lang="ko-KR" altLang="en-US" sz="1350" b="0" i="0">
              <a:solidFill>
                <a:srgbClr val="1d1d1f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321</ep:Words>
  <ep:PresentationFormat>On-screen Show (4:3)</ep:PresentationFormat>
  <ep:Paragraphs>90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user</cp:lastModifiedBy>
  <dcterms:modified xsi:type="dcterms:W3CDTF">2026-07-01T10:31:45.617</dcterms:modified>
  <cp:revision>13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